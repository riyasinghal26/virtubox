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EXECUTIVE MANAGEMENT PRESENTATION</a:t>
            </a:r>
          </a:p>
          <a:p>
            <a:pPr algn="l">
              <a:defRPr sz="2200" b="1">
                <a:solidFill>
                  <a:srgbClr val="FFFFFF"/>
                </a:solidFill>
              </a:defRPr>
            </a:pPr>
            <a:r>
              <a:t>Slide 1 — Business Problem &amp; Strategic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The Business Context &amp; Opportunity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Background: Management aims to transform our B2B e-commerce platform into a data-driven growth engine.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Core Challenge: Unsegmented marketing and lack of visibility into high-value B2B buyers vs retail single-purchase shoppers.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Operational Drag: High return/cancellation volume (10,600+ items) and peak Q4 stocking inventory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Strategic Goal: Transition to targeted B2B account management, capture international wholesale demand, and protect profit margins.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Key Metrics at a Glance (Dataset Baseline)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Total Gross Revenue: $8.89 Million across 12 months.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Transaction Records Analyzed: 392,692 cleaned order items.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Active Customer Accounts: 4,338 unique identified buyers.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Total Completed Orders: 18,532 invoices.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Core Market Focus: UK (Domestic) + Top European Wholesale Markets (Netherlands, Ireland, Germany, France).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EXECUTIVE MANAGEMENT PRESENTATION</a:t>
            </a:r>
          </a:p>
          <a:p>
            <a:pPr algn="l">
              <a:defRPr sz="2200" b="1">
                <a:solidFill>
                  <a:srgbClr val="FFFFFF"/>
                </a:solidFill>
              </a:defRPr>
            </a:pPr>
            <a:r>
              <a:t>Slide 2 — Data &amp; Analytical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Data Source &amp; Scope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Source: 541,909 raw transactional records from global e-commerce order logs (Dec 2010 – Dec 2011).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Scope: All order line-items, product codes, unit prices, order quantities, customer IDs, and destination countries.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Rigorous 5-Step Cleaning Pipeline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1. Guest Checkout Filtering: Dropped 135,080 rows missing CustomerID for accurate account-level cohort metrics.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2. Cancellation Isolation: Removed 10,624 return items (Quantity &lt; 0) to report clean net sales volume.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3. Outlier &amp; Price Correction: Eliminated 2,517 non-transactional items (UnitPrice &lt;= $0.00).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4. Deduplication: Purged 5,268 exact duplicate order item logs.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5. Feature Engineering: Created Net Revenue (TotalAmount), Order Date/Hour dimensions, and RFM spend tiers.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EXECUTIVE MANAGEMENT PRESENTATION</a:t>
            </a:r>
          </a:p>
          <a:p>
            <a:pPr algn="l">
              <a:defRPr sz="2200" b="1">
                <a:solidFill>
                  <a:srgbClr val="FFFFFF"/>
                </a:solidFill>
              </a:defRPr>
            </a:pPr>
            <a:r>
              <a:t>Slide 3 — Key Executive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1. Severe Customer Concentration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Top 10% of customers (433 accounts) drive 61.33% ($5.46M) of total revenue.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Extreme reliance on key accounts requires dedicated B2B account managers.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2. High-Yield Overseas Wholesale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Netherlands ARPU is $31,716 (9 accounts = $285k).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Ireland ARPU is $88,515 (3 accounts = $265k).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Domestic UK ARPU is $1,864 per customer.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International buyers operate as high-volume B2B wholesale distributors.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3. Q4 Pre-Holiday Demand Spike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November revenue surged by 95% to $1.16M ahead of Christmas stocking.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Peak daily orders occur between 10 AM and 1 PM (12 PM peak: $1.38M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EXECUTIVE MANAGEMENT PRESENTATION</a:t>
            </a:r>
          </a:p>
          <a:p>
            <a:pPr algn="l">
              <a:defRPr sz="2200" b="1">
                <a:solidFill>
                  <a:srgbClr val="FFFFFF"/>
                </a:solidFill>
              </a:defRPr>
            </a:pPr>
            <a:r>
              <a:t>Slide 4 — Deep-Dive Insight: International B2B Wholesale Expansion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The Unexpected Discovery (Surprising Finding)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Initial Expectation: Domestic UK market (90%+ volume) would yield the highest customer lifetime value.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Data Reality: Netherlands &amp; Ireland buyers generate 17x to 47x higher revenue per account than UK retail buyers.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Root Cause: Overseas buyers purchase in pallet-level bulk quantities (300+ units per item vs 8 units in UK).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Strategic Takeaway: International B2B offers massive operating margin leverage with minimal acquisition overhead.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Supporting Financial Evidence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Netherlands: 9 Accounts | $285,446 Revenue | $31,716 ARPU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Ireland (EIRE): 3 Accounts | $265,545 Revenue | $88,515 ARPU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Australia: 9 Accounts | $138,521 Revenue | $15,391 ARPU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Germany: 94 Accounts | $228,867 Revenue | $2,434 ARPU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UK Domestic: 3,920 Accounts | $7.31M Revenue | $1,864 ARPU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EXECUTIVE MANAGEMENT PRESENTATION</a:t>
            </a:r>
          </a:p>
          <a:p>
            <a:pPr algn="l">
              <a:defRPr sz="2200" b="1">
                <a:solidFill>
                  <a:srgbClr val="FFFFFF"/>
                </a:solidFill>
              </a:defRPr>
            </a:pPr>
            <a:r>
              <a:t>Slide 5 — Strategic Actionable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1. Launch European B2B Portal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What: Build dedicated wholesale ordering portals for Netherlands, Ireland, and Germany.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Owner: Head of International Expansion.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Outcome: Capture $1.5M+ incremental wholesale revenue in Year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2. Key Account Loyalty Tier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What: Establish VIP account management &amp; tier-based volume discounts for top 400 buyers.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Owner: Director of Customer Success.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Outcome: Reduce top-tier customer churn by 50%.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3. Q4 Pre-Stocking Logistics Plan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What: Advance inventory POs by 45 days for top 20 revenue SKUs before October surge.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Owner: Supply Chain Operations Lead.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Outcome: Prevent $200k+ stockout losses.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EXECUTIVE MANAGEMENT PRESENTATION</a:t>
            </a:r>
          </a:p>
          <a:p>
            <a:pPr algn="l">
              <a:defRPr sz="2200" b="1">
                <a:solidFill>
                  <a:srgbClr val="FFFFFF"/>
                </a:solidFill>
              </a:defRPr>
            </a:pPr>
            <a:r>
              <a:t>Slide 6 — Expected Business Impact &amp; Key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Projected Financial Growth &amp; Savings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Revenue Uplift: +18% to +25% total annual revenue growth driven by international wholesale expansion.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Churn Reduction: 50% decrease in top-tier account churn via VIP relationship management.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Inventory Optimization: 15% reduction in carrying costs and 98%+ stock availability during peak Q4.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Fulfillment Efficiency: 20% lower shipping overhead by bulk-shipping to European regional hubs.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Executive Dashboard KPIs to Track Success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1. Net Revenue Retention (NRR) among top 10% B2B accounts.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2. International B2B Account Acquisition Count (Netherlands, Germany, Ireland).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3. On-Time In-Full (OTIF) Delivery % during Q4 peak season.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4. Return &amp; Cancellation Loss Ratio (target: under 2.5% of total orders).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EXECUTIVE MANAGEMENT PRESENTATION</a:t>
            </a:r>
          </a:p>
          <a:p>
            <a:pPr algn="l">
              <a:defRPr sz="2200" b="1">
                <a:solidFill>
                  <a:srgbClr val="FFFFFF"/>
                </a:solidFill>
              </a:defRPr>
            </a:pPr>
            <a:r>
              <a:t>Slide 7 — Analytical Limitations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Analytical Risk &amp; Governance Limitations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Unidentified Guest Buyers: 24.9% of raw records lacked CustomerIDs; macro volume verified, but individual cohort tracking restricted.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Single-Year Baseline: 12-month data limits multi-year YoY trend benchmarking.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Lack of COGS Data: Revenue metrics analyzed on gross sales; cost of goods and shipping tariffs needed for exact net margin calculation.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Immediate Next Steps (30-60-90 Day Roadmap)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Days 1–30: Share Looker Studio Interactive Dashboard with regional sales heads.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Days 31–60: Pilot European B2B Wholesale Portal with top Dutch and Irish distributors.</a:t>
            </a:r>
          </a:p>
          <a:p>
            <a:pPr>
              <a:spcAft>
                <a:spcPts val="600"/>
              </a:spcAft>
              <a:defRPr sz="1300">
                <a:solidFill>
                  <a:srgbClr val="3B3B3B"/>
                </a:solidFill>
              </a:defRPr>
            </a:pPr>
            <a:r>
              <a:t>• Days 61–90: Integrate ERP cost data to perform exact product net margin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